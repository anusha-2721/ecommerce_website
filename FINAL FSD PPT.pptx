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99" r:id="rId1"/>
  </p:sldMasterIdLst>
  <p:sldIdLst>
    <p:sldId id="256" r:id="rId2"/>
    <p:sldId id="258" r:id="rId3"/>
    <p:sldId id="257" r:id="rId4"/>
    <p:sldId id="259" r:id="rId5"/>
    <p:sldId id="261" r:id="rId6"/>
    <p:sldId id="262" r:id="rId7"/>
    <p:sldId id="263" r:id="rId8"/>
    <p:sldId id="264" r:id="rId9"/>
    <p:sldId id="265" r:id="rId10"/>
    <p:sldId id="266"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63" d="100"/>
          <a:sy n="63" d="100"/>
        </p:scale>
        <p:origin x="76" y="1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smtClean="0"/>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10/28/2026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1385337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smtClean="0"/>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10/28/2026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900641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10/28/2026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435563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10/28/2026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3007579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10/28/2026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9034326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10/28/2026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7162348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10/28/2026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97673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10/28/2026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480236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10/28/2026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6921701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10/28/2026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347540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smtClean="0"/>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10/28/2026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smtClean="0"/>
              <a:pPr/>
              <a:t>‹#›</a:t>
            </a:fld>
            <a:endParaRPr lang="en-US" dirty="0"/>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97951308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smtClean="0"/>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10/28/2026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6953238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smtClean="0"/>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10/28/2026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smtClean="0"/>
              <a:pPr/>
              <a:t>‹#›</a:t>
            </a:fld>
            <a:endParaRPr lang="en-US" dirty="0"/>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68232705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smtClean="0"/>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10/28/2026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8397937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10/28/2026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5624811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10/28/2026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1262492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a:solidFill>
            <a:schemeClr val="accent1">
              <a:lumMod val="75000"/>
              <a:alpha val="40000"/>
            </a:schemeClr>
          </a:solidFill>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grp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grp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grp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grp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grp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grp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grp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grp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grp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grp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grp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grpFill/>
            <a:ln>
              <a:noFill/>
            </a:ln>
          </p:spPr>
        </p:sp>
      </p:grpSp>
      <p:grpSp>
        <p:nvGrpSpPr>
          <p:cNvPr id="10" name="Group 9"/>
          <p:cNvGrpSpPr/>
          <p:nvPr/>
        </p:nvGrpSpPr>
        <p:grpSpPr>
          <a:xfrm>
            <a:off x="27221" y="-30"/>
            <a:ext cx="2356674" cy="6853283"/>
            <a:chOff x="6627813" y="195452"/>
            <a:chExt cx="1952625" cy="5678299"/>
          </a:xfrm>
          <a:solidFill>
            <a:schemeClr val="accent1"/>
          </a:solidFill>
        </p:grpSpPr>
        <p:sp>
          <p:nvSpPr>
            <p:cNvPr id="11" name="Freeform 27"/>
            <p:cNvSpPr/>
            <p:nvPr/>
          </p:nvSpPr>
          <p:spPr bwMode="auto">
            <a:xfrm>
              <a:off x="6627813" y="195452"/>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grp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grp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grp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grp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grp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grp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grp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grp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grp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grp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grp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grpFill/>
            <a:ln>
              <a:noFill/>
            </a:ln>
          </p:spPr>
        </p:sp>
      </p:grpSp>
      <p:sp>
        <p:nvSpPr>
          <p:cNvPr id="7" name="Rectangle 6"/>
          <p:cNvSpPr/>
          <p:nvPr/>
        </p:nvSpPr>
        <p:spPr>
          <a:xfrm>
            <a:off x="0" y="0"/>
            <a:ext cx="182880" cy="6858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10/28/2026</a:t>
            </a:fld>
            <a:endParaRPr lang="en-US" dirty="0"/>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929063266"/>
      </p:ext>
    </p:extLst>
  </p:cSld>
  <p:clrMap bg1="dk1" tx1="lt1" bg2="dk2" tx2="lt2" accent1="accent1" accent2="accent2" accent3="accent3" accent4="accent4" accent5="accent5" accent6="accent6" hlink="hlink" folHlink="folHlink"/>
  <p:sldLayoutIdLst>
    <p:sldLayoutId id="2147483700" r:id="rId1"/>
    <p:sldLayoutId id="2147483701" r:id="rId2"/>
    <p:sldLayoutId id="2147483702" r:id="rId3"/>
    <p:sldLayoutId id="2147483703" r:id="rId4"/>
    <p:sldLayoutId id="2147483704" r:id="rId5"/>
    <p:sldLayoutId id="2147483705" r:id="rId6"/>
    <p:sldLayoutId id="2147483706" r:id="rId7"/>
    <p:sldLayoutId id="2147483707" r:id="rId8"/>
    <p:sldLayoutId id="2147483708" r:id="rId9"/>
    <p:sldLayoutId id="2147483709" r:id="rId10"/>
    <p:sldLayoutId id="2147483710" r:id="rId11"/>
    <p:sldLayoutId id="2147483711" r:id="rId12"/>
    <p:sldLayoutId id="2147483712" r:id="rId13"/>
    <p:sldLayoutId id="2147483713" r:id="rId14"/>
    <p:sldLayoutId id="2147483714" r:id="rId15"/>
    <p:sldLayoutId id="2147483715"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2336801" y="71121"/>
            <a:ext cx="9296400" cy="1076959"/>
          </a:xfrm>
        </p:spPr>
        <p:txBody>
          <a:bodyPr>
            <a:normAutofit/>
          </a:bodyPr>
          <a:lstStyle/>
          <a:p>
            <a:r>
              <a:rPr lang="en-US" sz="2800" b="1" dirty="0" smtClean="0"/>
              <a:t>    N.B.K.R </a:t>
            </a:r>
            <a:r>
              <a:rPr lang="en-US" sz="2800" b="1" dirty="0"/>
              <a:t>INSTITUTE OF SCIENCE AND </a:t>
            </a:r>
            <a:r>
              <a:rPr lang="en-US" sz="2800" b="1" dirty="0" smtClean="0"/>
              <a:t>TECHNOLOGY</a:t>
            </a:r>
            <a:br>
              <a:rPr lang="en-US" sz="2800" b="1" dirty="0" smtClean="0"/>
            </a:br>
            <a:r>
              <a:rPr lang="en-US" sz="2800" b="1" dirty="0"/>
              <a:t> </a:t>
            </a:r>
            <a:r>
              <a:rPr lang="en-US" sz="2800" b="1" dirty="0" smtClean="0"/>
              <a:t>                          </a:t>
            </a:r>
            <a:r>
              <a:rPr lang="en-US" sz="2800" dirty="0" smtClean="0"/>
              <a:t>(AUTONOMOUS)</a:t>
            </a:r>
            <a:endParaRPr lang="en-IN" sz="2800" dirty="0"/>
          </a:p>
        </p:txBody>
      </p:sp>
      <p:sp>
        <p:nvSpPr>
          <p:cNvPr id="5" name="Subtitle 4"/>
          <p:cNvSpPr>
            <a:spLocks noGrp="1"/>
          </p:cNvSpPr>
          <p:nvPr>
            <p:ph type="subTitle" idx="1"/>
          </p:nvPr>
        </p:nvSpPr>
        <p:spPr>
          <a:xfrm>
            <a:off x="2489201" y="1148080"/>
            <a:ext cx="9015412" cy="5080000"/>
          </a:xfrm>
        </p:spPr>
        <p:txBody>
          <a:bodyPr/>
          <a:lstStyle/>
          <a:p>
            <a:r>
              <a:rPr lang="en-US" dirty="0"/>
              <a:t> </a:t>
            </a:r>
            <a:r>
              <a:rPr lang="en-US" dirty="0" smtClean="0"/>
              <a:t>                </a:t>
            </a:r>
            <a:r>
              <a:rPr lang="en-US" sz="2000" dirty="0" err="1" smtClean="0"/>
              <a:t>Vidyanagar</a:t>
            </a:r>
            <a:r>
              <a:rPr lang="en-US" sz="2000" dirty="0" smtClean="0"/>
              <a:t> , 524413 , Nellore(d.st) , Andhra Pradesh</a:t>
            </a:r>
          </a:p>
          <a:p>
            <a:r>
              <a:rPr lang="en-US" sz="2400" b="1" dirty="0" smtClean="0"/>
              <a:t>       Department Of Computer Science and Engineering</a:t>
            </a:r>
          </a:p>
          <a:p>
            <a:r>
              <a:rPr lang="en-US" sz="3200" b="1" dirty="0"/>
              <a:t> </a:t>
            </a:r>
            <a:r>
              <a:rPr lang="en-US" sz="3200" b="1" dirty="0" smtClean="0"/>
              <a:t>                   </a:t>
            </a:r>
            <a:r>
              <a:rPr lang="en-US" sz="2400" b="1" dirty="0" smtClean="0"/>
              <a:t>Full Stack Development Project </a:t>
            </a:r>
          </a:p>
          <a:p>
            <a:r>
              <a:rPr lang="en-US" sz="3200" dirty="0"/>
              <a:t> </a:t>
            </a:r>
            <a:r>
              <a:rPr lang="en-US" sz="3200" dirty="0" smtClean="0"/>
              <a:t>                                     </a:t>
            </a:r>
            <a:r>
              <a:rPr lang="en-US" sz="2400" b="1" dirty="0" smtClean="0"/>
              <a:t>On</a:t>
            </a:r>
          </a:p>
          <a:p>
            <a:r>
              <a:rPr lang="en-US" sz="2400" b="1" dirty="0"/>
              <a:t> </a:t>
            </a:r>
            <a:r>
              <a:rPr lang="en-US" sz="2400" b="1" dirty="0" smtClean="0"/>
              <a:t>                                 E-Commerce Website   </a:t>
            </a:r>
          </a:p>
          <a:p>
            <a:r>
              <a:rPr lang="en-US" sz="2400" b="1" dirty="0"/>
              <a:t> </a:t>
            </a:r>
            <a:r>
              <a:rPr lang="en-US" sz="2400" b="1" dirty="0" smtClean="0"/>
              <a:t>                                       Team Members</a:t>
            </a:r>
          </a:p>
          <a:p>
            <a:r>
              <a:rPr lang="en-US" sz="2000" b="1" dirty="0"/>
              <a:t> </a:t>
            </a:r>
            <a:r>
              <a:rPr lang="en-US" sz="2000" b="1" dirty="0" smtClean="0"/>
              <a:t>                                          </a:t>
            </a:r>
            <a:r>
              <a:rPr lang="en-US" sz="2000" b="1" dirty="0" err="1" smtClean="0"/>
              <a:t>B.priyanka</a:t>
            </a:r>
            <a:r>
              <a:rPr lang="en-US" sz="2000" b="1" dirty="0" smtClean="0"/>
              <a:t> -24KB1A0530       </a:t>
            </a:r>
          </a:p>
          <a:p>
            <a:r>
              <a:rPr lang="en-US" sz="2000" b="1" dirty="0" smtClean="0"/>
              <a:t>                                           </a:t>
            </a:r>
            <a:r>
              <a:rPr lang="en-US" sz="2000" b="1" dirty="0" err="1" smtClean="0"/>
              <a:t>B.Anusha</a:t>
            </a:r>
            <a:r>
              <a:rPr lang="en-US" sz="2000" b="1" dirty="0" smtClean="0"/>
              <a:t>    </a:t>
            </a:r>
            <a:r>
              <a:rPr lang="en-US" sz="2000" b="1" dirty="0"/>
              <a:t>-</a:t>
            </a:r>
            <a:r>
              <a:rPr lang="en-US" sz="2000" b="1" dirty="0" smtClean="0"/>
              <a:t>24KB1A0531</a:t>
            </a:r>
          </a:p>
          <a:p>
            <a:r>
              <a:rPr lang="en-US" sz="2000" b="1" dirty="0" smtClean="0"/>
              <a:t>                                           </a:t>
            </a:r>
            <a:r>
              <a:rPr lang="en-US" sz="2000" b="1" dirty="0" err="1" smtClean="0"/>
              <a:t>B.Pavani</a:t>
            </a:r>
            <a:r>
              <a:rPr lang="en-US" sz="2000" b="1" dirty="0" smtClean="0"/>
              <a:t>     -24KB1A0540                          </a:t>
            </a:r>
          </a:p>
          <a:p>
            <a:r>
              <a:rPr lang="en-US" sz="2400" b="1" dirty="0" smtClean="0"/>
              <a:t>                                    </a:t>
            </a:r>
            <a:r>
              <a:rPr lang="en-US" sz="2000" b="1" dirty="0" smtClean="0"/>
              <a:t>K.Harshitha-24KB1A05N1</a:t>
            </a:r>
            <a:endParaRPr lang="en-IN" sz="2000" b="1" dirty="0"/>
          </a:p>
        </p:txBody>
      </p:sp>
      <p:pic>
        <p:nvPicPr>
          <p:cNvPr id="9" name="Picture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8270" y="71120"/>
            <a:ext cx="2543810" cy="3251199"/>
          </a:xfrm>
          <a:prstGeom prst="rect">
            <a:avLst/>
          </a:prstGeom>
        </p:spPr>
      </p:pic>
    </p:spTree>
    <p:extLst>
      <p:ext uri="{BB962C8B-B14F-4D97-AF65-F5344CB8AC3E}">
        <p14:creationId xmlns:p14="http://schemas.microsoft.com/office/powerpoint/2010/main" val="33849449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509490"/>
          </a:xfrm>
        </p:spPr>
        <p:txBody>
          <a:bodyPr>
            <a:normAutofit/>
          </a:bodyPr>
          <a:lstStyle/>
          <a:p>
            <a:r>
              <a:rPr lang="en-US" b="1" dirty="0" smtClean="0"/>
              <a:t/>
            </a:r>
            <a:br>
              <a:rPr lang="en-US" b="1" dirty="0" smtClean="0"/>
            </a:br>
            <a:r>
              <a:rPr lang="en-US" b="1" dirty="0" smtClean="0"/>
              <a:t>PROJECT OVERVIEW</a:t>
            </a:r>
            <a:endParaRPr lang="en-IN" b="1" dirty="0"/>
          </a:p>
        </p:txBody>
      </p:sp>
      <p:sp>
        <p:nvSpPr>
          <p:cNvPr id="3" name="Content Placeholder 2"/>
          <p:cNvSpPr>
            <a:spLocks noGrp="1"/>
          </p:cNvSpPr>
          <p:nvPr>
            <p:ph idx="1"/>
          </p:nvPr>
        </p:nvSpPr>
        <p:spPr/>
        <p:txBody>
          <a:bodyPr/>
          <a:lstStyle/>
          <a:p>
            <a:endParaRPr lang="en-US" dirty="0" smtClean="0"/>
          </a:p>
          <a:p>
            <a:r>
              <a:rPr lang="en-US" sz="2000" b="1" dirty="0" smtClean="0"/>
              <a:t>Traditional </a:t>
            </a:r>
            <a:r>
              <a:rPr lang="en-US" sz="2000" b="1" dirty="0" err="1"/>
              <a:t>Jewellery</a:t>
            </a:r>
            <a:r>
              <a:rPr lang="en-US" sz="2000" b="1" dirty="0"/>
              <a:t> E-Commerce </a:t>
            </a:r>
            <a:r>
              <a:rPr lang="en-US" sz="2000" b="1" dirty="0" smtClean="0"/>
              <a:t>Platform</a:t>
            </a:r>
          </a:p>
          <a:p>
            <a:r>
              <a:rPr lang="en-US" sz="2000" b="1" dirty="0" smtClean="0"/>
              <a:t>A </a:t>
            </a:r>
            <a:r>
              <a:rPr lang="en-US" sz="2000" b="1" dirty="0"/>
              <a:t>web-based shopping application designed to bring traditional </a:t>
            </a:r>
            <a:r>
              <a:rPr lang="en-US" sz="2000" b="1" dirty="0" err="1" smtClean="0"/>
              <a:t>jewellery</a:t>
            </a:r>
            <a:r>
              <a:rPr lang="en-US" sz="2000" b="1" dirty="0" smtClean="0"/>
              <a:t> </a:t>
            </a:r>
            <a:r>
              <a:rPr lang="en-US" sz="2000" b="1" dirty="0"/>
              <a:t>collections to a digital platform. It enables customers to explore products, review pricing and specifications, and manage their shopping experience through a centralized interface.</a:t>
            </a:r>
            <a:endParaRPr lang="en-IN" sz="2000" b="1" dirty="0"/>
          </a:p>
        </p:txBody>
      </p:sp>
    </p:spTree>
    <p:extLst>
      <p:ext uri="{BB962C8B-B14F-4D97-AF65-F5344CB8AC3E}">
        <p14:creationId xmlns:p14="http://schemas.microsoft.com/office/powerpoint/2010/main" val="26372146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509490"/>
          </a:xfrm>
        </p:spPr>
        <p:txBody>
          <a:bodyPr>
            <a:normAutofit/>
          </a:bodyPr>
          <a:lstStyle/>
          <a:p>
            <a:r>
              <a:rPr lang="en-US" dirty="0" smtClean="0"/>
              <a:t/>
            </a:r>
            <a:br>
              <a:rPr lang="en-US" dirty="0" smtClean="0"/>
            </a:br>
            <a:r>
              <a:rPr lang="en-US" sz="4000" b="1" dirty="0" smtClean="0"/>
              <a:t>CHALLENGES</a:t>
            </a:r>
            <a:endParaRPr lang="en-IN" sz="4000" b="1" dirty="0"/>
          </a:p>
        </p:txBody>
      </p:sp>
      <p:sp>
        <p:nvSpPr>
          <p:cNvPr id="3" name="Content Placeholder 2"/>
          <p:cNvSpPr>
            <a:spLocks noGrp="1"/>
          </p:cNvSpPr>
          <p:nvPr>
            <p:ph idx="1"/>
          </p:nvPr>
        </p:nvSpPr>
        <p:spPr/>
        <p:txBody>
          <a:bodyPr/>
          <a:lstStyle/>
          <a:p>
            <a:endParaRPr lang="en-US" dirty="0" smtClean="0"/>
          </a:p>
          <a:p>
            <a:r>
              <a:rPr lang="en-US" sz="2000" b="1" dirty="0" smtClean="0"/>
              <a:t>Traditional </a:t>
            </a:r>
            <a:r>
              <a:rPr lang="en-US" sz="2000" b="1" dirty="0" err="1" smtClean="0"/>
              <a:t>jewellery</a:t>
            </a:r>
            <a:r>
              <a:rPr lang="en-US" sz="2000" b="1" dirty="0" smtClean="0"/>
              <a:t> shopping primarily depends on physical stores and direct product inspection. Customers may need to visit multiple shops to compare designs, prices, and availability. Product discovery and comparison can therefore require additional time and effort.</a:t>
            </a:r>
            <a:endParaRPr lang="en-IN" sz="2000" b="1" dirty="0"/>
          </a:p>
        </p:txBody>
      </p:sp>
    </p:spTree>
    <p:extLst>
      <p:ext uri="{BB962C8B-B14F-4D97-AF65-F5344CB8AC3E}">
        <p14:creationId xmlns:p14="http://schemas.microsoft.com/office/powerpoint/2010/main" val="13434910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a:r>
            <a:br>
              <a:rPr lang="en-US" dirty="0" smtClean="0"/>
            </a:br>
            <a:r>
              <a:rPr lang="en-US" b="1" dirty="0" smtClean="0"/>
              <a:t>OUR DIGITAL SOLUTION</a:t>
            </a:r>
            <a:endParaRPr lang="en-IN" b="1" dirty="0"/>
          </a:p>
        </p:txBody>
      </p:sp>
      <p:sp>
        <p:nvSpPr>
          <p:cNvPr id="3" name="Content Placeholder 2"/>
          <p:cNvSpPr>
            <a:spLocks noGrp="1"/>
          </p:cNvSpPr>
          <p:nvPr>
            <p:ph idx="1"/>
          </p:nvPr>
        </p:nvSpPr>
        <p:spPr/>
        <p:txBody>
          <a:bodyPr/>
          <a:lstStyle/>
          <a:p>
            <a:endParaRPr lang="en-US" dirty="0" smtClean="0"/>
          </a:p>
          <a:p>
            <a:r>
              <a:rPr lang="en-US" sz="2000" b="1" dirty="0" smtClean="0"/>
              <a:t>The proposed system provides a centralized online platform for </a:t>
            </a:r>
            <a:r>
              <a:rPr lang="en-US" sz="2000" b="1" dirty="0" err="1" smtClean="0"/>
              <a:t>jewellery</a:t>
            </a:r>
            <a:r>
              <a:rPr lang="en-US" sz="2000" b="1" dirty="0" smtClean="0"/>
              <a:t> browsing and shopping. Product categorization, detailed product views, cart management, and order processing help simplify the customer journey and improve accessibility.</a:t>
            </a:r>
            <a:endParaRPr lang="en-IN" sz="2000" b="1" dirty="0"/>
          </a:p>
        </p:txBody>
      </p:sp>
    </p:spTree>
    <p:extLst>
      <p:ext uri="{BB962C8B-B14F-4D97-AF65-F5344CB8AC3E}">
        <p14:creationId xmlns:p14="http://schemas.microsoft.com/office/powerpoint/2010/main" val="39637793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a:r>
            <a:br>
              <a:rPr lang="en-US" dirty="0" smtClean="0"/>
            </a:br>
            <a:r>
              <a:rPr lang="en-US" b="1" dirty="0" smtClean="0"/>
              <a:t>KEY FEATURES AND FUNCTIONALITIES</a:t>
            </a:r>
            <a:endParaRPr lang="en-IN" b="1" dirty="0"/>
          </a:p>
        </p:txBody>
      </p:sp>
      <p:sp>
        <p:nvSpPr>
          <p:cNvPr id="3" name="Content Placeholder 2"/>
          <p:cNvSpPr>
            <a:spLocks noGrp="1"/>
          </p:cNvSpPr>
          <p:nvPr>
            <p:ph idx="1"/>
          </p:nvPr>
        </p:nvSpPr>
        <p:spPr/>
        <p:txBody>
          <a:bodyPr/>
          <a:lstStyle/>
          <a:p>
            <a:endParaRPr lang="en-US" dirty="0" smtClean="0"/>
          </a:p>
          <a:p>
            <a:r>
              <a:rPr lang="en-US" sz="2000" b="1" dirty="0" smtClean="0"/>
              <a:t>Product </a:t>
            </a:r>
            <a:r>
              <a:rPr lang="en-US" sz="2000" b="1" dirty="0"/>
              <a:t>Catalogue: Organized </a:t>
            </a:r>
            <a:r>
              <a:rPr lang="en-US" sz="2000" b="1" dirty="0" err="1"/>
              <a:t>jewellery</a:t>
            </a:r>
            <a:r>
              <a:rPr lang="en-US" sz="2000" b="1" dirty="0"/>
              <a:t> collections with images and </a:t>
            </a:r>
            <a:r>
              <a:rPr lang="en-US" sz="2000" b="1" dirty="0" smtClean="0"/>
              <a:t>pricing.</a:t>
            </a:r>
          </a:p>
          <a:p>
            <a:r>
              <a:rPr lang="en-US" sz="2000" b="1" dirty="0" smtClean="0"/>
              <a:t>Search </a:t>
            </a:r>
            <a:r>
              <a:rPr lang="en-US" sz="2000" b="1" dirty="0"/>
              <a:t>and Filtering: Faster product discovery based on relevant </a:t>
            </a:r>
            <a:r>
              <a:rPr lang="en-US" sz="2000" b="1" dirty="0" smtClean="0"/>
              <a:t>categories.</a:t>
            </a:r>
          </a:p>
          <a:p>
            <a:r>
              <a:rPr lang="en-US" sz="2000" b="1" dirty="0" smtClean="0"/>
              <a:t>Shopping </a:t>
            </a:r>
            <a:r>
              <a:rPr lang="en-US" sz="2000" b="1" dirty="0"/>
              <a:t>Cart: Add, remove, and review selected </a:t>
            </a:r>
            <a:r>
              <a:rPr lang="en-US" sz="2000" b="1" dirty="0" smtClean="0"/>
              <a:t>products.</a:t>
            </a:r>
          </a:p>
          <a:p>
            <a:r>
              <a:rPr lang="en-US" sz="2000" b="1" dirty="0" smtClean="0"/>
              <a:t>Order </a:t>
            </a:r>
            <a:r>
              <a:rPr lang="en-US" sz="2000" b="1" dirty="0"/>
              <a:t>Management: Maintain order details and purchase </a:t>
            </a:r>
            <a:r>
              <a:rPr lang="en-US" sz="2000" b="1" dirty="0" smtClean="0"/>
              <a:t>records.</a:t>
            </a:r>
          </a:p>
          <a:p>
            <a:r>
              <a:rPr lang="en-US" sz="2000" b="1" dirty="0" smtClean="0"/>
              <a:t>Responsive </a:t>
            </a:r>
            <a:r>
              <a:rPr lang="en-US" sz="2000" b="1" dirty="0"/>
              <a:t>Interface: Accessible layout across supported screen sizes.</a:t>
            </a:r>
            <a:endParaRPr lang="en-US" sz="2000" b="1" dirty="0" smtClean="0"/>
          </a:p>
        </p:txBody>
      </p:sp>
    </p:spTree>
    <p:extLst>
      <p:ext uri="{BB962C8B-B14F-4D97-AF65-F5344CB8AC3E}">
        <p14:creationId xmlns:p14="http://schemas.microsoft.com/office/powerpoint/2010/main" val="23401662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r>
            <a:br>
              <a:rPr lang="en-US" dirty="0"/>
            </a:br>
            <a:r>
              <a:rPr lang="en-US" b="1" dirty="0" smtClean="0"/>
              <a:t>SYSTEM ARCHITECTURE</a:t>
            </a:r>
            <a:endParaRPr lang="en-IN" b="1" dirty="0"/>
          </a:p>
        </p:txBody>
      </p:sp>
      <p:sp>
        <p:nvSpPr>
          <p:cNvPr id="3" name="Content Placeholder 2"/>
          <p:cNvSpPr>
            <a:spLocks noGrp="1"/>
          </p:cNvSpPr>
          <p:nvPr>
            <p:ph idx="1"/>
          </p:nvPr>
        </p:nvSpPr>
        <p:spPr/>
        <p:txBody>
          <a:bodyPr/>
          <a:lstStyle/>
          <a:p>
            <a:endParaRPr lang="en-US" dirty="0" smtClean="0"/>
          </a:p>
          <a:p>
            <a:r>
              <a:rPr lang="en-IN" sz="2000" b="1" dirty="0" smtClean="0"/>
              <a:t> </a:t>
            </a:r>
            <a:r>
              <a:rPr lang="en-IN" sz="2000" b="1" dirty="0"/>
              <a:t>The application follows a client-server architecture in which the frontend communicates with backend services through HTTP requests. The backend processes business logic, validates incoming data, and interacts with the database to retrieve or update information</a:t>
            </a:r>
            <a:r>
              <a:rPr lang="en-IN" sz="2000" b="1" dirty="0" smtClean="0"/>
              <a:t>.</a:t>
            </a:r>
          </a:p>
          <a:p>
            <a:r>
              <a:rPr lang="en-IN" sz="2000" b="1" dirty="0" smtClean="0"/>
              <a:t>User </a:t>
            </a:r>
            <a:r>
              <a:rPr lang="en-IN" sz="2000" b="1" dirty="0"/>
              <a:t>Interface → Backend API → </a:t>
            </a:r>
            <a:r>
              <a:rPr lang="en-IN" sz="2000" b="1" dirty="0" smtClean="0"/>
              <a:t>Database</a:t>
            </a:r>
            <a:endParaRPr lang="en-IN" sz="2000" b="1" dirty="0"/>
          </a:p>
        </p:txBody>
      </p:sp>
    </p:spTree>
    <p:extLst>
      <p:ext uri="{BB962C8B-B14F-4D97-AF65-F5344CB8AC3E}">
        <p14:creationId xmlns:p14="http://schemas.microsoft.com/office/powerpoint/2010/main" val="17991389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28241" y="624110"/>
            <a:ext cx="9154160" cy="1280890"/>
          </a:xfrm>
        </p:spPr>
        <p:txBody>
          <a:bodyPr/>
          <a:lstStyle/>
          <a:p>
            <a:r>
              <a:rPr lang="en-US" b="1" dirty="0" smtClean="0"/>
              <a:t/>
            </a:r>
            <a:br>
              <a:rPr lang="en-US" b="1" dirty="0" smtClean="0"/>
            </a:br>
            <a:r>
              <a:rPr lang="en-US" b="1" dirty="0" smtClean="0"/>
              <a:t>FRONTEND &amp; BACKEND IMPLEMENTATION</a:t>
            </a:r>
            <a:endParaRPr lang="en-IN" b="1" dirty="0"/>
          </a:p>
        </p:txBody>
      </p:sp>
      <p:sp>
        <p:nvSpPr>
          <p:cNvPr id="3" name="Content Placeholder 2"/>
          <p:cNvSpPr>
            <a:spLocks noGrp="1"/>
          </p:cNvSpPr>
          <p:nvPr>
            <p:ph idx="1"/>
          </p:nvPr>
        </p:nvSpPr>
        <p:spPr>
          <a:xfrm>
            <a:off x="2547621" y="2133600"/>
            <a:ext cx="8915400" cy="3777622"/>
          </a:xfrm>
        </p:spPr>
        <p:txBody>
          <a:bodyPr/>
          <a:lstStyle/>
          <a:p>
            <a:pPr marL="0" indent="0">
              <a:buNone/>
            </a:pPr>
            <a:r>
              <a:rPr lang="en-US" dirty="0" smtClean="0"/>
              <a:t> </a:t>
            </a:r>
          </a:p>
          <a:p>
            <a:r>
              <a:rPr lang="en-US" sz="2400" b="1" dirty="0" smtClean="0"/>
              <a:t>Frontend</a:t>
            </a:r>
            <a:r>
              <a:rPr lang="en-US" sz="2400" b="1" dirty="0"/>
              <a:t>:</a:t>
            </a:r>
            <a:r>
              <a:rPr lang="en-US" b="1" dirty="0"/>
              <a:t> </a:t>
            </a:r>
            <a:r>
              <a:rPr lang="en-US" sz="2000" b="1" dirty="0"/>
              <a:t>Focuses on product presentation, navigation, user interaction, and cart updates</a:t>
            </a:r>
            <a:r>
              <a:rPr lang="en-US" sz="2000" b="1" dirty="0" smtClean="0"/>
              <a:t>.</a:t>
            </a:r>
          </a:p>
          <a:p>
            <a:r>
              <a:rPr lang="en-US" sz="2400" b="1" dirty="0" smtClean="0"/>
              <a:t>Backend</a:t>
            </a:r>
            <a:r>
              <a:rPr lang="en-US" sz="2400" b="1" dirty="0"/>
              <a:t>: </a:t>
            </a:r>
            <a:r>
              <a:rPr lang="en-US" sz="2000" b="1" dirty="0"/>
              <a:t>Handles API requests, business rules, input validation, and communication with the database</a:t>
            </a:r>
            <a:r>
              <a:rPr lang="en-US" sz="2000" b="1" dirty="0" smtClean="0"/>
              <a:t>.</a:t>
            </a:r>
          </a:p>
          <a:p>
            <a:r>
              <a:rPr lang="en-US" sz="2400" b="1" dirty="0" smtClean="0"/>
              <a:t>Integration</a:t>
            </a:r>
            <a:r>
              <a:rPr lang="en-US" sz="2400" b="1" dirty="0"/>
              <a:t>: </a:t>
            </a:r>
            <a:r>
              <a:rPr lang="en-US" sz="2000" b="1" dirty="0"/>
              <a:t>Connects user actions to the appropriate backend operations and displays the returned results.</a:t>
            </a:r>
            <a:endParaRPr lang="en-IN" sz="2000" b="1" dirty="0"/>
          </a:p>
        </p:txBody>
      </p:sp>
    </p:spTree>
    <p:extLst>
      <p:ext uri="{BB962C8B-B14F-4D97-AF65-F5344CB8AC3E}">
        <p14:creationId xmlns:p14="http://schemas.microsoft.com/office/powerpoint/2010/main" val="4969240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
            </a:r>
            <a:br>
              <a:rPr lang="en-US" b="1" dirty="0" smtClean="0"/>
            </a:br>
            <a:r>
              <a:rPr lang="en-US" b="1" dirty="0" smtClean="0"/>
              <a:t>DATABASE DESIGN</a:t>
            </a:r>
            <a:endParaRPr lang="en-IN" b="1" dirty="0"/>
          </a:p>
        </p:txBody>
      </p:sp>
      <p:sp>
        <p:nvSpPr>
          <p:cNvPr id="3" name="Content Placeholder 2"/>
          <p:cNvSpPr>
            <a:spLocks noGrp="1"/>
          </p:cNvSpPr>
          <p:nvPr>
            <p:ph idx="1"/>
          </p:nvPr>
        </p:nvSpPr>
        <p:spPr/>
        <p:txBody>
          <a:bodyPr/>
          <a:lstStyle/>
          <a:p>
            <a:r>
              <a:rPr lang="en-US" sz="2000" b="1" dirty="0"/>
              <a:t>The database maintains structured information required for e-commerce operations</a:t>
            </a:r>
            <a:r>
              <a:rPr lang="en-US" sz="2000" b="1" dirty="0" smtClean="0"/>
              <a:t>.</a:t>
            </a:r>
          </a:p>
          <a:p>
            <a:r>
              <a:rPr lang="en-US" sz="2000" b="1" dirty="0" smtClean="0"/>
              <a:t> </a:t>
            </a:r>
            <a:r>
              <a:rPr lang="en-US" sz="2000" b="1" dirty="0"/>
              <a:t>Products: Product names, categories, prices, and image references</a:t>
            </a:r>
            <a:r>
              <a:rPr lang="en-US" sz="2000" b="1" dirty="0" smtClean="0"/>
              <a:t>.</a:t>
            </a:r>
          </a:p>
          <a:p>
            <a:r>
              <a:rPr lang="en-US" sz="2000" b="1" dirty="0" smtClean="0"/>
              <a:t> </a:t>
            </a:r>
            <a:r>
              <a:rPr lang="en-US" sz="2000" b="1" dirty="0"/>
              <a:t>Customers: Relevant customer account information</a:t>
            </a:r>
            <a:r>
              <a:rPr lang="en-US" sz="2000" b="1" dirty="0" smtClean="0"/>
              <a:t>.</a:t>
            </a:r>
          </a:p>
          <a:p>
            <a:r>
              <a:rPr lang="en-US" sz="2000" b="1" dirty="0" smtClean="0"/>
              <a:t> </a:t>
            </a:r>
            <a:r>
              <a:rPr lang="en-US" sz="2000" b="1" dirty="0"/>
              <a:t>Orders: Order identifiers, dates, status, and customer </a:t>
            </a:r>
            <a:r>
              <a:rPr lang="en-US" sz="2000" b="1" dirty="0" smtClean="0"/>
              <a:t>references.</a:t>
            </a:r>
          </a:p>
          <a:p>
            <a:r>
              <a:rPr lang="en-US" sz="2000" b="1" dirty="0" smtClean="0"/>
              <a:t>Order </a:t>
            </a:r>
            <a:r>
              <a:rPr lang="en-US" sz="2000" b="1" dirty="0"/>
              <a:t>Items: Products and quantities associated with each </a:t>
            </a:r>
            <a:r>
              <a:rPr lang="en-US" sz="2000" b="1" dirty="0" err="1"/>
              <a:t>order.Relational</a:t>
            </a:r>
            <a:r>
              <a:rPr lang="en-US" sz="2000" b="1" dirty="0"/>
              <a:t> links help maintain data consistency and support efficient retrieval</a:t>
            </a:r>
            <a:r>
              <a:rPr lang="en-US" dirty="0"/>
              <a:t>.</a:t>
            </a:r>
            <a:endParaRPr lang="en-IN" dirty="0"/>
          </a:p>
        </p:txBody>
      </p:sp>
    </p:spTree>
    <p:extLst>
      <p:ext uri="{BB962C8B-B14F-4D97-AF65-F5344CB8AC3E}">
        <p14:creationId xmlns:p14="http://schemas.microsoft.com/office/powerpoint/2010/main" val="14720861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
            </a:r>
            <a:br>
              <a:rPr lang="en-US" dirty="0" smtClean="0"/>
            </a:br>
            <a:r>
              <a:rPr lang="en-US" sz="4000" b="1" dirty="0" smtClean="0"/>
              <a:t>TESTING &amp; VALIDATION</a:t>
            </a:r>
            <a:br>
              <a:rPr lang="en-US" sz="4000" b="1" dirty="0" smtClean="0"/>
            </a:br>
            <a:endParaRPr lang="en-IN" sz="4000" b="1" dirty="0"/>
          </a:p>
        </p:txBody>
      </p:sp>
      <p:sp>
        <p:nvSpPr>
          <p:cNvPr id="3" name="Content Placeholder 2"/>
          <p:cNvSpPr>
            <a:spLocks noGrp="1"/>
          </p:cNvSpPr>
          <p:nvPr>
            <p:ph idx="1"/>
          </p:nvPr>
        </p:nvSpPr>
        <p:spPr/>
        <p:txBody>
          <a:bodyPr>
            <a:normAutofit/>
          </a:bodyPr>
          <a:lstStyle/>
          <a:p>
            <a:r>
              <a:rPr lang="en-US" sz="2000" b="1" dirty="0" smtClean="0"/>
              <a:t>The </a:t>
            </a:r>
            <a:r>
              <a:rPr lang="en-US" sz="2000" b="1" dirty="0"/>
              <a:t>application is tested to verify the correctness of its major operations</a:t>
            </a:r>
            <a:r>
              <a:rPr lang="en-US" sz="2000" b="1" dirty="0" smtClean="0"/>
              <a:t>.</a:t>
            </a:r>
          </a:p>
          <a:p>
            <a:r>
              <a:rPr lang="en-US" sz="2000" b="1" dirty="0" smtClean="0"/>
              <a:t> </a:t>
            </a:r>
            <a:r>
              <a:rPr lang="en-US" sz="2000" b="1" dirty="0"/>
              <a:t>UI Testing: Checks layout, navigation, and </a:t>
            </a:r>
            <a:r>
              <a:rPr lang="en-US" sz="2000" b="1" dirty="0" smtClean="0"/>
              <a:t>responsiveness.</a:t>
            </a:r>
          </a:p>
          <a:p>
            <a:r>
              <a:rPr lang="en-US" sz="2000" b="1" dirty="0" smtClean="0"/>
              <a:t>Functional </a:t>
            </a:r>
            <a:r>
              <a:rPr lang="en-US" sz="2000" b="1" dirty="0"/>
              <a:t>Testing: Verifies search, product selection, and cart </a:t>
            </a:r>
            <a:r>
              <a:rPr lang="en-US" sz="2000" b="1" dirty="0" smtClean="0"/>
              <a:t>operations.</a:t>
            </a:r>
          </a:p>
          <a:p>
            <a:r>
              <a:rPr lang="en-US" sz="2000" b="1" dirty="0" smtClean="0"/>
              <a:t>API </a:t>
            </a:r>
            <a:r>
              <a:rPr lang="en-US" sz="2000" b="1" dirty="0"/>
              <a:t>Testing: Validates backend responses and error handling</a:t>
            </a:r>
            <a:r>
              <a:rPr lang="en-US" sz="2000" b="1" dirty="0" smtClean="0"/>
              <a:t>.</a:t>
            </a:r>
          </a:p>
          <a:p>
            <a:r>
              <a:rPr lang="en-US" sz="2000" b="1" dirty="0" smtClean="0"/>
              <a:t> </a:t>
            </a:r>
            <a:r>
              <a:rPr lang="en-US" sz="2000" b="1" dirty="0"/>
              <a:t>Database Testing: Confirms correct storage and retrieval of product and order data.</a:t>
            </a:r>
            <a:endParaRPr lang="en-IN" sz="2000" b="1" dirty="0"/>
          </a:p>
        </p:txBody>
      </p:sp>
    </p:spTree>
    <p:extLst>
      <p:ext uri="{BB962C8B-B14F-4D97-AF65-F5344CB8AC3E}">
        <p14:creationId xmlns:p14="http://schemas.microsoft.com/office/powerpoint/2010/main" val="36829118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
            </a:r>
            <a:br>
              <a:rPr lang="en-US" dirty="0" smtClean="0"/>
            </a:br>
            <a:r>
              <a:rPr lang="en-US" sz="4000" b="1" dirty="0" smtClean="0"/>
              <a:t>CONCLUSION</a:t>
            </a:r>
            <a:br>
              <a:rPr lang="en-US" sz="4000" b="1" dirty="0" smtClean="0"/>
            </a:br>
            <a:endParaRPr lang="en-IN" sz="4000" b="1" dirty="0"/>
          </a:p>
        </p:txBody>
      </p:sp>
      <p:sp>
        <p:nvSpPr>
          <p:cNvPr id="3" name="Content Placeholder 2"/>
          <p:cNvSpPr>
            <a:spLocks noGrp="1"/>
          </p:cNvSpPr>
          <p:nvPr>
            <p:ph idx="1"/>
          </p:nvPr>
        </p:nvSpPr>
        <p:spPr/>
        <p:txBody>
          <a:bodyPr/>
          <a:lstStyle/>
          <a:p>
            <a:endParaRPr lang="en-US" dirty="0" smtClean="0"/>
          </a:p>
          <a:p>
            <a:r>
              <a:rPr lang="en-US" sz="2000" b="1" dirty="0"/>
              <a:t>The Traditional </a:t>
            </a:r>
            <a:r>
              <a:rPr lang="en-US" sz="2000" b="1" dirty="0" err="1"/>
              <a:t>Jewellery</a:t>
            </a:r>
            <a:r>
              <a:rPr lang="en-US" sz="2000" b="1" dirty="0"/>
              <a:t> Shopping E-Commerce Website offers a convenient platform to explore </a:t>
            </a:r>
            <a:r>
              <a:rPr lang="en-US" sz="2000" b="1" dirty="0" err="1"/>
              <a:t>jewellery</a:t>
            </a:r>
            <a:r>
              <a:rPr lang="en-US" sz="2000" b="1" dirty="0"/>
              <a:t> collections, compare prices, and simplify product selection. It integrates frontend, backend, and database technologies to provide an efficient shopping experience, with scope for future enhancements such as online payments and order tracking</a:t>
            </a:r>
            <a:r>
              <a:rPr lang="en-US" b="1" dirty="0"/>
              <a:t>.</a:t>
            </a:r>
            <a:endParaRPr lang="en-IN" b="1" dirty="0"/>
          </a:p>
        </p:txBody>
      </p:sp>
    </p:spTree>
    <p:extLst>
      <p:ext uri="{BB962C8B-B14F-4D97-AF65-F5344CB8AC3E}">
        <p14:creationId xmlns:p14="http://schemas.microsoft.com/office/powerpoint/2010/main" val="3558043557"/>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2C333A"/>
      </a:dk2>
      <a:lt2>
        <a:srgbClr val="D6ECED"/>
      </a:lt2>
      <a:accent1>
        <a:srgbClr val="DE32DE"/>
      </a:accent1>
      <a:accent2>
        <a:srgbClr val="F42B8A"/>
      </a:accent2>
      <a:accent3>
        <a:srgbClr val="349FE7"/>
      </a:accent3>
      <a:accent4>
        <a:srgbClr val="565FF8"/>
      </a:accent4>
      <a:accent5>
        <a:srgbClr val="876BE7"/>
      </a:accent5>
      <a:accent6>
        <a:srgbClr val="F268C2"/>
      </a:accent6>
      <a:hlink>
        <a:srgbClr val="F55CF9"/>
      </a:hlink>
      <a:folHlink>
        <a:srgbClr val="E8A0EE"/>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F20B7C8E-B819-43F3-AAF9-EE50B1A83630}"/>
    </a:ext>
  </a:extLst>
</a:theme>
</file>

<file path=docProps/app.xml><?xml version="1.0" encoding="utf-8"?>
<Properties xmlns="http://schemas.openxmlformats.org/officeDocument/2006/extended-properties" xmlns:vt="http://schemas.openxmlformats.org/officeDocument/2006/docPropsVTypes">
  <Template>Wisp</Template>
  <TotalTime>65</TotalTime>
  <Words>503</Words>
  <Application>Microsoft Office PowerPoint</Application>
  <PresentationFormat>Widescreen</PresentationFormat>
  <Paragraphs>52</Paragraphs>
  <Slides>10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Century Gothic</vt:lpstr>
      <vt:lpstr>Wingdings 3</vt:lpstr>
      <vt:lpstr>Wisp</vt:lpstr>
      <vt:lpstr>    N.B.K.R INSTITUTE OF SCIENCE AND TECHNOLOGY                            (AUTONOMOUS)</vt:lpstr>
      <vt:lpstr> PROJECT OVERVIEW</vt:lpstr>
      <vt:lpstr> CHALLENGES</vt:lpstr>
      <vt:lpstr> OUR DIGITAL SOLUTION</vt:lpstr>
      <vt:lpstr> KEY FEATURES AND FUNCTIONALITIES</vt:lpstr>
      <vt:lpstr> SYSTEM ARCHITECTURE</vt:lpstr>
      <vt:lpstr> FRONTEND &amp; BACKEND IMPLEMENTATION</vt:lpstr>
      <vt:lpstr> DATABASE DESIGN</vt:lpstr>
      <vt:lpstr> TESTING &amp; VALIDATION </vt:lpstr>
      <vt:lpstr> CONCLUSION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N.B.K.R INSTITUTE OF SCIENCE AND TECHNOLOGY                            (AUTONOMOUS)</dc:title>
  <dc:creator>DELL</dc:creator>
  <cp:lastModifiedBy>DELL</cp:lastModifiedBy>
  <cp:revision>8</cp:revision>
  <dcterms:created xsi:type="dcterms:W3CDTF">2026-10-28T14:51:12Z</dcterms:created>
  <dcterms:modified xsi:type="dcterms:W3CDTF">2026-10-28T15:57:04Z</dcterms:modified>
</cp:coreProperties>
</file>